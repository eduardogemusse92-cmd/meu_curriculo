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b="1">
                <a:solidFill>
                  <a:srgbClr val="5BB4FF"/>
                </a:solidFill>
              </a:rPr>
              <a:t>TRABALHO PRÁTICO 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Site de Currículo Pessoal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HTML5 + CSS3 puro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Disciplina: Programação de Design Web — 2.º Ano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3"/>
          </a:xfrm>
          <a:prstGeom prst="rect">
            <a:avLst/>
          </a:prstGeom>
          <a:solidFill>
            <a:srgbClr val="14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b="1">
                <a:solidFill>
                  <a:srgbClr val="5BB4FF"/>
                </a:solidFill>
              </a:rPr>
              <a:t>1. Objetivo do trabalho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Criar um site pessoal de currículo/portfólio com várias páginas HTML interligadas.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Demonstrar domínio de HTML5 e CSS3.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Usar CSS próprio, sem Bootstrap, Tailwind ou outros frameworks.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Não utilizar JavaScript.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3"/>
          </a:xfrm>
          <a:prstGeom prst="rect">
            <a:avLst/>
          </a:prstGeom>
          <a:solidFill>
            <a:srgbClr val="14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b="1">
                <a:solidFill>
                  <a:srgbClr val="5BB4FF"/>
                </a:solidFill>
              </a:rPr>
              <a:t>2. Páginas obrigatórias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Home (index.html): nome, foto/avatar, frase de efeito, competências e contacto.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Sobre/Currículo (about.html): formação, experiência e competências; incluir listas e uma tabela.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Portfólio/Projetos (portfolio.html): projetos em cards usando CSS Grid.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Hobbies (hobbies.html): interesses organizados usando Flexbox.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Contacto (contact.html): formulário completo com validação HTML5.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3"/>
          </a:xfrm>
          <a:prstGeom prst="rect">
            <a:avLst/>
          </a:prstGeom>
          <a:solidFill>
            <a:srgbClr val="14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b="1">
                <a:solidFill>
                  <a:srgbClr val="5BB4FF"/>
                </a:solidFill>
              </a:rPr>
              <a:t>3. Estrutura comum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Todas as páginas devem ter o mesmo header e footer.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Header: nome/logótipo e menu de navegação.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A página atual deve ficar visualmente destacada.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Footer: email, telefone, redes sociais e assinatura “Desenvolvido por Nome Apelido”.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Usar HTML semântico: header, nav, main, section, article, aside e footer.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3"/>
          </a:xfrm>
          <a:prstGeom prst="rect">
            <a:avLst/>
          </a:prstGeom>
          <a:solidFill>
            <a:srgbClr val="14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b="1">
                <a:solidFill>
                  <a:srgbClr val="5BB4FF"/>
                </a:solidFill>
              </a:rPr>
              <a:t>4. Elementos multimédia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Imagem: usar &lt;img&gt; com alt descritivo e, quando houver legenda, &lt;figure&gt; + &lt;figcaption&gt;.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Vídeo: usar &lt;video controls&gt; com &lt;source&gt; e poster OU incorporar um vídeo do YouTube com &lt;iframe&gt;.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Áudio: usar &lt;audio controls&gt; com pelo menos um &lt;source&gt;.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Os ficheiros de vídeo e áudio devem ser leves.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3"/>
          </a:xfrm>
          <a:prstGeom prst="rect">
            <a:avLst/>
          </a:prstGeom>
          <a:solidFill>
            <a:srgbClr val="14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b="1">
                <a:solidFill>
                  <a:srgbClr val="5BB4FF"/>
                </a:solidFill>
              </a:rPr>
              <a:t>5. CSS que deve aparecer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box-sizing: border-box e seletores avançados.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Pseudo-classes: :hover, :focus, :first-child, :last-child e :nth-child().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Pseudo-elementos: ::before e ::after.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Flexbox nos Hobbies e CSS Grid no Portfólio.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position: sticky e comentário explicando static, relative, absolute, fixed e sticky.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Variáveis CSS, transição, animação, gradiente/sombra e tipografia consistente.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3"/>
          </a:xfrm>
          <a:prstGeom prst="rect">
            <a:avLst/>
          </a:prstGeom>
          <a:solidFill>
            <a:srgbClr val="14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b="1">
                <a:solidFill>
                  <a:srgbClr val="5BB4FF"/>
                </a:solidFill>
              </a:rPr>
              <a:t>6. Responsividade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Todas as páginas devem ter a meta viewport.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Usar abordagem mobile-first.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Criar pelo menos duas media queries: tablet (até 768px) e telemóvel (até 480px).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Combinar unidades relativas como rem, %, vw/vh com unidades fixas.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3"/>
          </a:xfrm>
          <a:prstGeom prst="rect">
            <a:avLst/>
          </a:prstGeom>
          <a:solidFill>
            <a:srgbClr val="14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b="1">
                <a:solidFill>
                  <a:srgbClr val="5BB4FF"/>
                </a:solidFill>
              </a:rPr>
              <a:t>7. Formulário de contacto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b="1">
                <a:solidFill>
                  <a:srgbClr val="5BB4FF"/>
                </a:solidFill>
              </a:rPr>
              <a:t>Nome: type=text, required e minlength.</a:t>
            </a:r>
          </a:p>
          <a:p>
            <a:pPr>
              <a:spcAft>
                <a:spcPts val="1200"/>
              </a:spcAft>
              <a:defRPr sz="1800"/>
            </a:pPr>
            <a:r>
              <a:rPr b="1">
                <a:solidFill>
                  <a:srgbClr val="5BB4FF"/>
                </a:solidFill>
              </a:rPr>
              <a:t>Email: type=email.</a:t>
            </a:r>
          </a:p>
          <a:p>
            <a:pPr>
              <a:spcAft>
                <a:spcPts val="1200"/>
              </a:spcAft>
              <a:defRPr sz="1800"/>
            </a:pPr>
            <a:r>
              <a:rPr b="1">
                <a:solidFill>
                  <a:srgbClr val="5BB4FF"/>
                </a:solidFill>
              </a:rPr>
              <a:t>Telefone: type=tel com pattern.</a:t>
            </a:r>
          </a:p>
          <a:p>
            <a:pPr>
              <a:spcAft>
                <a:spcPts val="1200"/>
              </a:spcAft>
              <a:defRPr sz="1800"/>
            </a:pPr>
            <a:r>
              <a:rPr b="1">
                <a:solidFill>
                  <a:srgbClr val="5BB4FF"/>
                </a:solidFill>
              </a:rPr>
              <a:t>Data: type=date.</a:t>
            </a:r>
          </a:p>
          <a:p>
            <a:pPr>
              <a:spcAft>
                <a:spcPts val="1200"/>
              </a:spcAft>
              <a:defRPr sz="1800"/>
            </a:pPr>
            <a:r>
              <a:rPr b="1">
                <a:solidFill>
                  <a:srgbClr val="5BB4FF"/>
                </a:solidFill>
              </a:rPr>
              <a:t>Número: type=number com min e max.</a:t>
            </a:r>
          </a:p>
          <a:p>
            <a:pPr>
              <a:spcAft>
                <a:spcPts val="1200"/>
              </a:spcAft>
              <a:defRPr sz="1800"/>
            </a:pPr>
            <a:r>
              <a:rPr b="1">
                <a:solidFill>
                  <a:srgbClr val="5BB4FF"/>
                </a:solidFill>
              </a:rPr>
              <a:t>Ficheiro: type=file com accept.</a:t>
            </a:r>
          </a:p>
          <a:p>
            <a:pPr>
              <a:spcAft>
                <a:spcPts val="1200"/>
              </a:spcAft>
              <a:defRPr sz="1800"/>
            </a:pPr>
            <a:r>
              <a:rPr b="1">
                <a:solidFill>
                  <a:srgbClr val="5BB4FF"/>
                </a:solidFill>
              </a:rPr>
              <a:t>Select, radio ou checkbox e textarea.</a:t>
            </a:r>
          </a:p>
          <a:p>
            <a:pPr>
              <a:spcAft>
                <a:spcPts val="1200"/>
              </a:spcAft>
              <a:defRPr sz="1800"/>
            </a:pPr>
            <a:r>
              <a:rPr b="1">
                <a:solidFill>
                  <a:srgbClr val="5BB4FF"/>
                </a:solidFill>
              </a:rPr>
              <a:t>A validação deve ser feita apenas com atributos HTML5, sem JavaScript.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3"/>
          </a:xfrm>
          <a:prstGeom prst="rect">
            <a:avLst/>
          </a:prstGeom>
          <a:solidFill>
            <a:srgbClr val="14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b="1">
                <a:solidFill>
                  <a:srgbClr val="5BB4FF"/>
                </a:solidFill>
              </a:rPr>
              <a:t>8. Organização dos ficheiros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b="1">
                <a:solidFill>
                  <a:srgbClr val="5BB4FF"/>
                </a:solidFill>
              </a:rPr>
              <a:t>meu-curriculo/</a:t>
            </a:r>
          </a:p>
          <a:p>
            <a:pPr>
              <a:spcAft>
                <a:spcPts val="1200"/>
              </a:spcAft>
              <a:defRPr sz="1800"/>
            </a:pPr>
            <a:r>
              <a:rPr b="1">
                <a:solidFill>
                  <a:srgbClr val="5BB4FF"/>
                </a:solidFill>
              </a:rPr>
              <a:t>├── index.html</a:t>
            </a:r>
          </a:p>
          <a:p>
            <a:pPr>
              <a:spcAft>
                <a:spcPts val="1200"/>
              </a:spcAft>
              <a:defRPr sz="1800"/>
            </a:pPr>
            <a:r>
              <a:rPr b="1">
                <a:solidFill>
                  <a:srgbClr val="5BB4FF"/>
                </a:solidFill>
              </a:rPr>
              <a:t>├── about.html</a:t>
            </a:r>
          </a:p>
          <a:p>
            <a:pPr>
              <a:spcAft>
                <a:spcPts val="1200"/>
              </a:spcAft>
              <a:defRPr sz="1800"/>
            </a:pPr>
            <a:r>
              <a:rPr b="1">
                <a:solidFill>
                  <a:srgbClr val="5BB4FF"/>
                </a:solidFill>
              </a:rPr>
              <a:t>├── portfolio.html</a:t>
            </a:r>
          </a:p>
          <a:p>
            <a:pPr>
              <a:spcAft>
                <a:spcPts val="1200"/>
              </a:spcAft>
              <a:defRPr sz="1800"/>
            </a:pPr>
            <a:r>
              <a:rPr b="1">
                <a:solidFill>
                  <a:srgbClr val="5BB4FF"/>
                </a:solidFill>
              </a:rPr>
              <a:t>├── hobbies.html</a:t>
            </a:r>
          </a:p>
          <a:p>
            <a:pPr>
              <a:spcAft>
                <a:spcPts val="1200"/>
              </a:spcAft>
              <a:defRPr sz="1800"/>
            </a:pPr>
            <a:r>
              <a:rPr b="1">
                <a:solidFill>
                  <a:srgbClr val="5BB4FF"/>
                </a:solidFill>
              </a:rPr>
              <a:t>├── contact.html</a:t>
            </a:r>
          </a:p>
          <a:p>
            <a:pPr>
              <a:spcAft>
                <a:spcPts val="1200"/>
              </a:spcAft>
              <a:defRPr sz="1800"/>
            </a:pPr>
            <a:r>
              <a:rPr b="1">
                <a:solidFill>
                  <a:srgbClr val="5BB4FF"/>
                </a:solidFill>
              </a:rPr>
              <a:t>├── css/ → estilo.css + responsivo.css</a:t>
            </a:r>
          </a:p>
          <a:p>
            <a:pPr>
              <a:spcAft>
                <a:spcPts val="1200"/>
              </a:spcAft>
              <a:defRPr sz="1800"/>
            </a:pPr>
            <a:r>
              <a:rPr b="1">
                <a:solidFill>
                  <a:srgbClr val="5BB4FF"/>
                </a:solidFill>
              </a:rPr>
              <a:t>├── assets/ → img, video, audio e ficheiros</a:t>
            </a:r>
          </a:p>
          <a:p>
            <a:pPr>
              <a:spcAft>
                <a:spcPts val="1200"/>
              </a:spcAft>
              <a:defRPr sz="1800"/>
            </a:pPr>
            <a:r>
              <a:rPr b="1">
                <a:solidFill>
                  <a:srgbClr val="5BB4FF"/>
                </a:solidFill>
              </a:rPr>
              <a:t>└── README.md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3"/>
          </a:xfrm>
          <a:prstGeom prst="rect">
            <a:avLst/>
          </a:prstGeom>
          <a:solidFill>
            <a:srgbClr val="14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b="1">
                <a:solidFill>
                  <a:srgbClr val="5BB4FF"/>
                </a:solidFill>
              </a:rPr>
              <a:t>9. GitHub 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A entrega deve ser através de um repositório público no GitHub.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O histórico deve mostrar a evolução real do trabalho.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O README deve conter: nome completo e turma.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Explicar o projeto e como visualizar o site.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Listar as páginas, principais tags HTML e recursos CSS utilizados.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Capturas de ecrã são opcionais, mas recomendadas.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3"/>
          </a:xfrm>
          <a:prstGeom prst="rect">
            <a:avLst/>
          </a:prstGeom>
          <a:solidFill>
            <a:srgbClr val="14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b="1">
                <a:solidFill>
                  <a:srgbClr val="5BB4FF"/>
                </a:solidFill>
              </a:rPr>
              <a:t>10. O que será avaliado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rPr b="1">
                <a:solidFill>
                  <a:srgbClr val="5BB4FF"/>
                </a:solidFill>
              </a:rPr>
              <a:t>HTML semântico e multimédia — 15%</a:t>
            </a:r>
          </a:p>
          <a:p>
            <a:pPr>
              <a:spcAft>
                <a:spcPts val="1200"/>
              </a:spcAft>
              <a:defRPr sz="1800"/>
            </a:pPr>
            <a:r>
              <a:rPr b="1">
                <a:solidFill>
                  <a:srgbClr val="5BB4FF"/>
                </a:solidFill>
              </a:rPr>
              <a:t>Profundidade de CSS — 25%</a:t>
            </a:r>
          </a:p>
          <a:p>
            <a:pPr>
              <a:spcAft>
                <a:spcPts val="1200"/>
              </a:spcAft>
              <a:defRPr sz="1800"/>
            </a:pPr>
            <a:r>
              <a:rPr b="1">
                <a:solidFill>
                  <a:srgbClr val="5BB4FF"/>
                </a:solidFill>
              </a:rPr>
              <a:t>Responsividade — 15%</a:t>
            </a:r>
          </a:p>
          <a:p>
            <a:pPr>
              <a:spcAft>
                <a:spcPts val="1200"/>
              </a:spcAft>
              <a:defRPr sz="1800"/>
            </a:pPr>
            <a:r>
              <a:rPr b="1">
                <a:solidFill>
                  <a:srgbClr val="5BB4FF"/>
                </a:solidFill>
              </a:rPr>
              <a:t>Formulário e validação HTML5 — 15%</a:t>
            </a:r>
          </a:p>
          <a:p>
            <a:pPr>
              <a:spcAft>
                <a:spcPts val="1200"/>
              </a:spcAft>
              <a:defRPr sz="1800"/>
            </a:pPr>
            <a:r>
              <a:rPr b="1">
                <a:solidFill>
                  <a:srgbClr val="5BB4FF"/>
                </a:solidFill>
              </a:rPr>
              <a:t>Acessibilidade e boas práticas — 10%</a:t>
            </a:r>
          </a:p>
          <a:p>
            <a:pPr>
              <a:spcAft>
                <a:spcPts val="1200"/>
              </a:spcAft>
              <a:defRPr sz="1800"/>
            </a:pPr>
            <a:r>
              <a:rPr b="1">
                <a:solidFill>
                  <a:srgbClr val="5BB4FF"/>
                </a:solidFill>
              </a:rPr>
              <a:t>GitHub e documentação — 10%</a:t>
            </a:r>
          </a:p>
          <a:p>
            <a:pPr>
              <a:spcAft>
                <a:spcPts val="1200"/>
              </a:spcAft>
              <a:defRPr sz="1800"/>
            </a:pPr>
            <a:r>
              <a:rPr b="1">
                <a:solidFill>
                  <a:srgbClr val="5BB4FF"/>
                </a:solidFill>
              </a:rPr>
              <a:t>Organização e qualidade do código — 5%</a:t>
            </a:r>
          </a:p>
          <a:p>
            <a:pPr>
              <a:spcAft>
                <a:spcPts val="1200"/>
              </a:spcAft>
              <a:defRPr sz="1800"/>
            </a:pPr>
            <a:r>
              <a:rPr b="1">
                <a:solidFill>
                  <a:srgbClr val="5BB4FF"/>
                </a:solidFill>
              </a:rPr>
              <a:t>Originalidade e acabamento visual — 5%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3"/>
          </a:xfrm>
          <a:prstGeom prst="rect">
            <a:avLst/>
          </a:prstGeom>
          <a:solidFill>
            <a:srgbClr val="14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b="1">
                <a:solidFill>
                  <a:srgbClr val="5BB4FF"/>
                </a:solidFill>
              </a:rPr>
              <a:t>11. Ponto importante para a defesa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A avaliação considera também a capacidade de explicar as escolhas técnicas.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É importante saber explicar por que usou Grid, Flexbox, media queries, HTML semântico, validação HTML5, vídeo e áudio.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Não basta o site funcionar: é necessário demonstrar que entende o código.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3"/>
          </a:xfrm>
          <a:prstGeom prst="rect">
            <a:avLst/>
          </a:prstGeom>
          <a:solidFill>
            <a:srgbClr val="14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5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b="1">
                <a:solidFill>
                  <a:srgbClr val="5BB4FF"/>
                </a:solidFill>
              </a:rP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O projeto deve apresentar um currículo pessoal completo, organizado, responsivo e visualmente coerente.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HTML5 é usado para a estrutura e semântica.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CSS3 é usado para layout, design, efeitos e responsividade.</a:t>
            </a:r>
          </a:p>
          <a:p>
            <a:pPr>
              <a:spcAft>
                <a:spcPts val="1200"/>
              </a:spcAft>
              <a:defRPr sz="2000"/>
            </a:pPr>
            <a:r>
              <a:rPr b="1">
                <a:solidFill>
                  <a:srgbClr val="5BB4FF"/>
                </a:solidFill>
              </a:rPr>
              <a:t>O projeto deve respeitar a estrutura e as regras da ficha.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123443"/>
          </a:xfrm>
          <a:prstGeom prst="rect">
            <a:avLst/>
          </a:prstGeom>
          <a:solidFill>
            <a:srgbClr val="14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